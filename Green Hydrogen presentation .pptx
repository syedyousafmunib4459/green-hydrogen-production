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9" r:id="rId1"/>
    <p:sldMasterId id="2147483852" r:id="rId2"/>
  </p:sldMasterIdLst>
  <p:notesMasterIdLst>
    <p:notesMasterId r:id="rId15"/>
  </p:notesMasterIdLst>
  <p:handoutMasterIdLst>
    <p:handoutMasterId r:id="rId16"/>
  </p:handoutMasterIdLst>
  <p:sldIdLst>
    <p:sldId id="264" r:id="rId3"/>
    <p:sldId id="257" r:id="rId4"/>
    <p:sldId id="258" r:id="rId5"/>
    <p:sldId id="259" r:id="rId6"/>
    <p:sldId id="262" r:id="rId7"/>
    <p:sldId id="330" r:id="rId8"/>
    <p:sldId id="261" r:id="rId9"/>
    <p:sldId id="263" r:id="rId10"/>
    <p:sldId id="329" r:id="rId11"/>
    <p:sldId id="309" r:id="rId12"/>
    <p:sldId id="316" r:id="rId13"/>
    <p:sldId id="32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AF2"/>
    <a:srgbClr val="25A2FF"/>
    <a:srgbClr val="5BB9FF"/>
    <a:srgbClr val="FF9366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 autoAdjust="0"/>
    <p:restoredTop sz="86438"/>
  </p:normalViewPr>
  <p:slideViewPr>
    <p:cSldViewPr snapToGrid="0">
      <p:cViewPr varScale="1">
        <p:scale>
          <a:sx n="106" d="100"/>
          <a:sy n="106" d="100"/>
        </p:scale>
        <p:origin x="216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4845E-A26C-D6CA-632C-306175761D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A64F41-FABB-ACB6-9765-F9501484DB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1C13C-CA14-5640-BAA6-A265232F257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37C17-A5DE-C04E-99A7-1BDC48CC06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3203E-D2D6-BBD8-89B1-73930D56FB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5C7DE-1CF9-6A43-AD45-E5A9FC91B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405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E727-8790-F346-8B3E-542D2E9900C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91BFC-591D-0E4A-9125-E92E6ADC6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5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1BFC-591D-0E4A-9125-E92E6ADC61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96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1BFC-591D-0E4A-9125-E92E6ADC61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62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1BFC-591D-0E4A-9125-E92E6ADC61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16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E91BFC-591D-0E4A-9125-E92E6ADC61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25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6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3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2BB0-4C21-EB00-C0F9-6FAA28CD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E7AF4-FAD6-F610-72B5-35567162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F7DB1-9C80-E3AF-64AB-CE6930E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40CFA-2062-B8A5-4224-7A7836CA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C1FD8D-3B66-D590-56A9-6FE5834904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857038" y="-209550"/>
            <a:ext cx="914400" cy="914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0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1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3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5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40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20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712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5E34-F9CC-DCC4-A9F9-1A5F2E1D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20C3D-0485-DFA7-424F-DD4D2B6BA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7807-6D5A-CCE6-E59D-146CBC79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702ED-7BBF-5A9B-F240-E9ABF8CC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2D194-2B64-C657-9050-20F416E1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03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EC6F-464B-2D8F-95DF-63CB9A86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67AD-CE50-E2AF-CB6B-636E30D6A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45F66-BD4F-5F36-73C5-FC312799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E09E4-84B8-9F74-A465-7EA8B8FE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4163A-5A25-907C-7E3E-304F36C2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59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3BED-C34F-80C6-ABD2-521B1183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4E07D-12D2-CB34-E70F-997C017BA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C3E24-3D77-381E-543F-172D2F2B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7400A-CF56-F91E-53C4-EEA3D98E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6001-8FAC-6B0F-49E4-A581A232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1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F287-54CD-70A5-C3BB-2ECB7DA4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FB08B-9E34-29B8-2090-997F12996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05DA1-2381-1A76-8D09-394A750D9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F3315-20FF-D4BB-AC56-70A75155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1F98C-0354-9884-7767-AFA84292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A886C-9EE8-DC39-7EA1-E0E163E8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019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3D3C-451B-3F44-F5B1-F92A1684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E92D2-0273-7789-CB3C-D8980CC27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8D180-E77E-AD68-C88E-BB6688595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D0FF2-2D1B-655D-A690-CF0A63B77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42922-4EF4-214C-192A-BBE723609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A491F-2FB7-05BD-14A3-729ABF475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C989C-7A1E-F04C-E72C-18784176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56CDD5-9DBB-E193-FFFD-529A8E3E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92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5206-54F0-F29E-F3ED-9952D9C6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0F38A-B825-F653-55E4-AEC9FD57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6DB20-9243-00BF-A358-AFAE4BFB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0D710-6325-658C-B800-CB010331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81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E5543-FDDB-073B-B5BB-60DEAF47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5ED6C-EBA8-C384-AB2E-02E3D3A6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2C7A5-6EFC-A3A5-352B-556746A9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42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6629-1434-DCA1-AAE6-223EE1CE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A3A19-C8DD-6D62-F7F0-12A644CB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0DE22-B43B-3F32-F4CE-5EBE0093B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B1761-5528-3750-2369-1F221821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1498E-65EA-2313-7CA3-33D88F8F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AF654-3C41-CF55-3A2C-66D75C69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017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DF4BB-3B24-45BA-C4B0-1C5755A4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C62BB-5FE0-F426-9DF0-15BF009B8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026EA-532A-FBE0-72AD-3B701AB03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F5C1B-1617-8C0F-4B4D-E59BB003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42172-3F46-A5F9-2D1A-CD2C45F8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224C8-0F73-93FB-C20D-B9CD2050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83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5913-337B-2E44-11BD-C56593A0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BAB44-ABEB-D599-4E54-A30584E77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9DCC-279F-6981-6F89-BDD2838B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4DE4-A800-38DB-4765-6176D830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05B24-B51E-116F-7E30-5C8B7C5E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11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40704A-68F1-D194-EB8A-74C8F708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D5B2D-234A-E3DA-6F10-0A3E8E594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C8316-341F-F53C-4355-95CA5A67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7F5A1-3AC8-0164-AE7A-62833C34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550E0-5F0B-3731-17B8-797CA9DB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5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CA33C-7C9F-E543-B056-E57D72D28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BDA5A07-4D4C-421F-7BCC-647F4161C68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 t="34697" b="36558"/>
          <a:stretch>
            <a:fillRect/>
          </a:stretch>
        </p:blipFill>
        <p:spPr>
          <a:xfrm>
            <a:off x="9847632" y="62982"/>
            <a:ext cx="2344368" cy="67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4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65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6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813D8-897C-CB4B-4B55-0939375A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12044-FE1B-ED16-7C49-C4078A9F3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B19EC-30D9-B84A-864C-568F96F5C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5DCB5-784E-7F45-A252-30EB8C9F2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A8CA6-9025-476E-DCC0-EC4FDBC35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6A405-5FC4-8D43-9C51-4143826ED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2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306261925012450?utm_source=chatgpt.com" TargetMode="External"/><Relationship Id="rId7" Type="http://schemas.openxmlformats.org/officeDocument/2006/relationships/hyperlink" Target="https://www.sciencedirect.com/science/article/pii/S136403212400043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sciencedirect.com/science/article/pii/S0378775323012806" TargetMode="External"/><Relationship Id="rId5" Type="http://schemas.openxmlformats.org/officeDocument/2006/relationships/hyperlink" Target="https://www.sciencedirect.com/science/article/pii/S1364032122002258" TargetMode="External"/><Relationship Id="rId4" Type="http://schemas.openxmlformats.org/officeDocument/2006/relationships/hyperlink" Target="https://doi.org/10.1016/j.ijhydene.2013.01.15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sciencedirect.com/science/article/pii/S0306261924014132" TargetMode="External"/><Relationship Id="rId4" Type="http://schemas.openxmlformats.org/officeDocument/2006/relationships/hyperlink" Target="https://pubs.rsc.org/en/content/articlelanding/2025/ee/d5ee01093d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69FD84-0AB6-20AE-A054-556E48C46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160" y="3399131"/>
            <a:ext cx="8271075" cy="3429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Prepared by: 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Syed Yousaf Munib (6933767)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Supervisor: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Dr. Bahman Amini Horri</a:t>
            </a:r>
          </a:p>
          <a:p>
            <a:pPr marL="0" indent="0">
              <a:lnSpc>
                <a:spcPct val="160000"/>
              </a:lnSpc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03D7F-424A-D778-98D5-291F6DE4683A}"/>
              </a:ext>
            </a:extLst>
          </p:cNvPr>
          <p:cNvSpPr txBox="1"/>
          <p:nvPr/>
        </p:nvSpPr>
        <p:spPr>
          <a:xfrm>
            <a:off x="10349949" y="40849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A9B78-2786-2989-EA1D-A2562CEDCB91}"/>
              </a:ext>
            </a:extLst>
          </p:cNvPr>
          <p:cNvSpPr txBox="1"/>
          <p:nvPr/>
        </p:nvSpPr>
        <p:spPr>
          <a:xfrm>
            <a:off x="543841" y="733283"/>
            <a:ext cx="110703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Generation Green Hydrogen from UK Offshore Wind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person in a suit and tie">
            <a:extLst>
              <a:ext uri="{FF2B5EF4-FFF2-40B4-BE49-F238E27FC236}">
                <a16:creationId xmlns:a16="http://schemas.microsoft.com/office/drawing/2014/main" id="{4EDB08A3-DF6F-CE47-54D7-9BC65557F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854" y="3902953"/>
            <a:ext cx="2447651" cy="20274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12" name="Image 1">
            <a:extLst>
              <a:ext uri="{FF2B5EF4-FFF2-40B4-BE49-F238E27FC236}">
                <a16:creationId xmlns:a16="http://schemas.microsoft.com/office/drawing/2014/main" id="{C0628238-4B13-30E6-35D0-4B70ADC73139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l="8389" t="29558" r="24374" b="19009"/>
          <a:stretch>
            <a:fillRect/>
          </a:stretch>
        </p:blipFill>
        <p:spPr bwMode="auto">
          <a:xfrm>
            <a:off x="4818203" y="4916701"/>
            <a:ext cx="1809306" cy="691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68FC5099-AEAB-82DE-A792-8CD60B050772}"/>
              </a:ext>
            </a:extLst>
          </p:cNvPr>
          <p:cNvSpPr/>
          <p:nvPr/>
        </p:nvSpPr>
        <p:spPr>
          <a:xfrm flipV="1">
            <a:off x="543841" y="1393660"/>
            <a:ext cx="11066372" cy="1169040"/>
          </a:xfrm>
          <a:prstGeom prst="arc">
            <a:avLst>
              <a:gd name="adj1" fmla="val 10774303"/>
              <a:gd name="adj2" fmla="val 24667"/>
            </a:avLst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42703-B4E7-BA52-7EE5-96519CD2C6C7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13562-D452-4BAC-3279-3DF0419400F8}"/>
              </a:ext>
            </a:extLst>
          </p:cNvPr>
          <p:cNvSpPr txBox="1"/>
          <p:nvPr/>
        </p:nvSpPr>
        <p:spPr>
          <a:xfrm>
            <a:off x="3425972" y="274010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1BC6D-54EB-188B-6D0E-92CBAE7E7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5" y="4208094"/>
            <a:ext cx="3133979" cy="240368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127000">
              <a:schemeClr val="bg1"/>
            </a:glow>
            <a:outerShdw blurRad="50800" dist="50800" dir="5400000" algn="ctr" rotWithShape="0">
              <a:schemeClr val="bg1">
                <a:alpha val="0"/>
              </a:schemeClr>
            </a:outerShdw>
            <a:reflection stA="0" endPos="65000" dist="508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7F821F-CD13-85E3-F37D-125793044CF0}"/>
              </a:ext>
            </a:extLst>
          </p:cNvPr>
          <p:cNvSpPr txBox="1"/>
          <p:nvPr/>
        </p:nvSpPr>
        <p:spPr>
          <a:xfrm>
            <a:off x="10926501" y="4398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11DC-10F1-FAC9-932F-5D5D577F60EC}"/>
              </a:ext>
            </a:extLst>
          </p:cNvPr>
          <p:cNvSpPr txBox="1"/>
          <p:nvPr/>
        </p:nvSpPr>
        <p:spPr>
          <a:xfrm>
            <a:off x="11272603" y="539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6BFED-44C9-6302-9B6E-F4DC41293DF1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  <p:extLst>
      <p:ext uri="{BB962C8B-B14F-4D97-AF65-F5344CB8AC3E}">
        <p14:creationId xmlns:p14="http://schemas.microsoft.com/office/powerpoint/2010/main" val="373121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101536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2188952" cy="5797296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73566"/>
            <a:ext cx="5394960" cy="4690506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473566"/>
            <a:ext cx="5394960" cy="438912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47356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RESEARCH AIM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40494"/>
            <a:ext cx="237744" cy="237744"/>
          </a:xfrm>
          <a:prstGeom prst="ellipse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3203" y="2052217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205086"/>
            <a:ext cx="4800600" cy="74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Evaluate PEM water electrolysis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green hydrogen production using UK offshore wind energy.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028046"/>
            <a:ext cx="237744" cy="237744"/>
          </a:xfrm>
          <a:prstGeom prst="ellipse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7738" y="302804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096" y="3226935"/>
            <a:ext cx="4800600" cy="677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Compare PEM performance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with alkaline and solid oxide  electrolyser  technologies.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015598"/>
            <a:ext cx="237744" cy="237744"/>
          </a:xfrm>
          <a:prstGeom prst="ellipse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01559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" y="4088750"/>
            <a:ext cx="4800600" cy="8229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Design a complete offshore system,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seawater treatment, hydrogen production, compression, storage (350 bar) and transportation.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8923" y="5003150"/>
            <a:ext cx="237744" cy="237744"/>
          </a:xfrm>
          <a:prstGeom prst="ellipse">
            <a:avLst/>
          </a:prstGeom>
          <a:solidFill>
            <a:srgbClr val="1A7A7A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500315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" y="5176510"/>
            <a:ext cx="4800600" cy="741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Assess techno economic feasibility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CAPEX, OPEX, and payback period.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89320" y="1473566"/>
            <a:ext cx="5806440" cy="438912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9048" y="1473566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35624" y="2040494"/>
            <a:ext cx="237744" cy="23774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35624" y="204049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31282" y="2277547"/>
            <a:ext cx="5212080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Design gap: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integrated offshore hydrogen system discuss.</a:t>
            </a:r>
          </a:p>
        </p:txBody>
      </p:sp>
      <p:sp>
        <p:nvSpPr>
          <p:cNvPr id="28" name="Shape 26"/>
          <p:cNvSpPr/>
          <p:nvPr/>
        </p:nvSpPr>
        <p:spPr>
          <a:xfrm>
            <a:off x="6135624" y="2936606"/>
            <a:ext cx="237744" cy="23774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35624" y="293660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1282" y="3133019"/>
            <a:ext cx="521208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Technology Gap: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Justified electrolyser selection for offshore.</a:t>
            </a:r>
          </a:p>
        </p:txBody>
      </p:sp>
      <p:sp>
        <p:nvSpPr>
          <p:cNvPr id="31" name="Shape 29"/>
          <p:cNvSpPr/>
          <p:nvPr/>
        </p:nvSpPr>
        <p:spPr>
          <a:xfrm>
            <a:off x="6135624" y="3832718"/>
            <a:ext cx="237744" cy="23774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35624" y="383271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31282" y="4070462"/>
            <a:ext cx="5212080" cy="685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Simulation gap: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Variable wind impact on hydrogen output unknown. </a:t>
            </a:r>
          </a:p>
        </p:txBody>
      </p:sp>
      <p:sp>
        <p:nvSpPr>
          <p:cNvPr id="34" name="Shape 32"/>
          <p:cNvSpPr/>
          <p:nvPr/>
        </p:nvSpPr>
        <p:spPr>
          <a:xfrm>
            <a:off x="6135624" y="4728830"/>
            <a:ext cx="237744" cy="23774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pPr algn="just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35624" y="472883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46520" y="4966574"/>
            <a:ext cx="5212080" cy="800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Economic gap: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CAPEX, OPEX &amp; Payback not assessed with storge and transportation.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4139EA-AB1F-B0DD-2721-06CC5E2F98B3}"/>
              </a:ext>
            </a:extLst>
          </p:cNvPr>
          <p:cNvSpPr txBox="1"/>
          <p:nvPr/>
        </p:nvSpPr>
        <p:spPr>
          <a:xfrm>
            <a:off x="3954592" y="482168"/>
            <a:ext cx="4303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Aim and Problem Statement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E5D0F2-4257-EDA0-0909-7F87CE123E41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32DB8A-1634-F832-1329-B68B50CC97D4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B3B234-2C63-B797-7DBF-A92A166FE870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470" y="7315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Objectives &amp; Key Insights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6742" y="1085850"/>
            <a:ext cx="11779462" cy="5726662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2472" y="1209294"/>
            <a:ext cx="2956561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2472" y="1209294"/>
            <a:ext cx="2956561" cy="42062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3912" y="1209294"/>
            <a:ext cx="28406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 01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78824" y="1209294"/>
            <a:ext cx="2975885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78824" y="1209294"/>
            <a:ext cx="2956561" cy="42062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70264" y="1209294"/>
            <a:ext cx="28406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 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176" y="1715488"/>
            <a:ext cx="2614945" cy="18653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sz="1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Design system: </a:t>
            </a:r>
          </a:p>
          <a:p>
            <a:pPr marL="171450" indent="-171450" algn="just">
              <a:buFont typeface="Wingdings" pitchFamily="2" charset="2"/>
              <a:buChar char="ü"/>
            </a:pP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Seawater treatment, PEM electrolysis, hydrogen compression,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Storage and transportation.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95176" y="1209294"/>
            <a:ext cx="2956561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95176" y="1209294"/>
            <a:ext cx="2956561" cy="42062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6616" y="1209294"/>
            <a:ext cx="28406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 03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43945" y="1721358"/>
            <a:ext cx="2724674" cy="18653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sz="1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Simulate:</a:t>
            </a:r>
          </a:p>
          <a:p>
            <a:pPr algn="just"/>
            <a:endParaRPr lang="en-US" sz="14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Aspen HYSYS simulation model</a:t>
            </a:r>
            <a:r>
              <a:rPr lang="en-US" sz="14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perform mass and energy balance calculations.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11528" y="1209294"/>
            <a:ext cx="2956561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11528" y="1209294"/>
            <a:ext cx="2956561" cy="42062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02968" y="1209294"/>
            <a:ext cx="284061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 04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21257" y="1721358"/>
            <a:ext cx="2724674" cy="18653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171450" indent="-171450" algn="just">
              <a:buFont typeface="Wingdings" pitchFamily="2" charset="2"/>
              <a:buChar char="ü"/>
            </a:pPr>
            <a:r>
              <a:rPr lang="en-US" sz="1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Techno economic analysis: </a:t>
            </a:r>
          </a:p>
          <a:p>
            <a:pPr algn="ctr"/>
            <a:endParaRPr lang="en-US" sz="14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CAPEX, OPEX, and payback period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including the effect of hydrogen storage and transportation.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2472" y="3749040"/>
            <a:ext cx="11405617" cy="38344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5369" y="3710323"/>
            <a:ext cx="11431246" cy="42062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INSIGHT :  PEM Suitability for Offshore Hydrogen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5369" y="4212499"/>
            <a:ext cx="11412720" cy="2331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50-80 °C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4919472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Operating Temp.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11480" y="5486400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 temperature and suitable for offshore platforms.</a:t>
            </a:r>
            <a:endParaRPr lang="en-US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64407" y="4224528"/>
            <a:ext cx="45719" cy="16276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0128" y="422452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10128" y="4919472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Response Time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96412" y="5489627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Rapid response to variable wind power input.</a:t>
            </a:r>
            <a:endParaRPr lang="en-US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17335" y="4224528"/>
            <a:ext cx="45719" cy="16276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63056" y="422452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&gt;99.9%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63056" y="4919472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H₂ Purity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44768" y="5479542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purity output meets storage requirements.</a:t>
            </a:r>
            <a:endParaRPr lang="en-US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970263" y="4224528"/>
            <a:ext cx="45719" cy="16276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15984" y="4224528"/>
            <a:ext cx="2807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350 bar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015984" y="4919472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Storage Target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967739" y="5498105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Commercially viable compressed H₂ storage.</a:t>
            </a:r>
            <a:endParaRPr lang="en-US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C0CB8-693E-A323-4C79-C2BB5D6782D7}"/>
              </a:ext>
            </a:extLst>
          </p:cNvPr>
          <p:cNvSpPr txBox="1"/>
          <p:nvPr/>
        </p:nvSpPr>
        <p:spPr>
          <a:xfrm>
            <a:off x="3684778" y="479497"/>
            <a:ext cx="4462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Objectives and Key Insights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410057-06F1-6024-F534-784C6D8A6784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9072EB-A60B-8224-EC51-FD4E54E40B6A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" name="Text 97">
            <a:extLst>
              <a:ext uri="{FF2B5EF4-FFF2-40B4-BE49-F238E27FC236}">
                <a16:creationId xmlns:a16="http://schemas.microsoft.com/office/drawing/2014/main" id="{830ADF05-4272-513A-F498-9B80C9BC4CF2}"/>
              </a:ext>
            </a:extLst>
          </p:cNvPr>
          <p:cNvSpPr/>
          <p:nvPr/>
        </p:nvSpPr>
        <p:spPr>
          <a:xfrm>
            <a:off x="4294190" y="6591436"/>
            <a:ext cx="3401971" cy="246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Sources: </a:t>
            </a: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(Aminaho et al.,2025; Ibrahim et al., 2022 )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CFE1755D-6059-E036-103E-0B4766211D81}"/>
              </a:ext>
            </a:extLst>
          </p:cNvPr>
          <p:cNvSpPr/>
          <p:nvPr/>
        </p:nvSpPr>
        <p:spPr>
          <a:xfrm>
            <a:off x="3287266" y="1721358"/>
            <a:ext cx="2584465" cy="18653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sz="1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Compare and select:</a:t>
            </a:r>
          </a:p>
          <a:p>
            <a:pPr algn="ctr"/>
            <a:endParaRPr lang="en-US" sz="1400" b="1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ctr"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Review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alkaline, PEM, solid oxide electrolyser </a:t>
            </a: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justify the selection of PEM.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4707" y="1173094"/>
            <a:ext cx="11699535" cy="58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Wingdings" pitchFamily="2" charset="2"/>
              <a:buChar char="q"/>
            </a:pPr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Comparison of  electrolyser  Technologies:</a:t>
            </a:r>
            <a:r>
              <a:rPr lang="en-US"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Three main  electrolyser  technologies are identified in the literature. PEM is selected for this study due to its suitability for variable offshore wind power.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740846" y="1787545"/>
            <a:ext cx="3282007" cy="51206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95711" y="1787545"/>
            <a:ext cx="263028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Parameter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6886" y="1787545"/>
            <a:ext cx="2533479" cy="512064"/>
          </a:xfrm>
          <a:prstGeom prst="rect">
            <a:avLst/>
          </a:prstGeom>
          <a:solidFill>
            <a:srgbClr val="2A5A6A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01750" y="1787545"/>
            <a:ext cx="201167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Alkaline (AWE)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58566" y="1787545"/>
            <a:ext cx="2533479" cy="5120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13430" y="1787545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PEM ✓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70246" y="1787545"/>
            <a:ext cx="2533479" cy="512064"/>
          </a:xfrm>
          <a:prstGeom prst="rect">
            <a:avLst/>
          </a:prstGeom>
          <a:solidFill>
            <a:srgbClr val="2A5A6A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5110" y="1787545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Solid Oxide (SOEC)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40846" y="2299609"/>
            <a:ext cx="3282007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95711" y="2299609"/>
            <a:ext cx="253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Maturity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46886" y="2299609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01750" y="2299609"/>
            <a:ext cx="192835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(commercial)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8566" y="2299609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13431" y="2299609"/>
            <a:ext cx="19568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(commercial)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70246" y="2299609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25110" y="2299609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Low-medium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40846" y="2811673"/>
            <a:ext cx="3282007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95711" y="2811673"/>
            <a:ext cx="24678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Operating Temp.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46888" y="2811673"/>
            <a:ext cx="206654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401750" y="2811673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60-90 °C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58566" y="2811673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13430" y="2811673"/>
            <a:ext cx="21214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50-80 °C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70246" y="2811673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25110" y="2811673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700-1000 °C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740847" y="3323737"/>
            <a:ext cx="2844350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795711" y="3323737"/>
            <a:ext cx="246785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Efficiency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346886" y="3323737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401750" y="3323737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60-75%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58566" y="3323737"/>
            <a:ext cx="239528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13430" y="3323737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65-80%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370246" y="3323737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25110" y="3323737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70-90%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740846" y="3835801"/>
            <a:ext cx="3282007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795711" y="3835801"/>
            <a:ext cx="263028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Dynamic Response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346886" y="3835801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401750" y="3835801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Slow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58566" y="3835801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13431" y="3835801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370246" y="3835801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425110" y="3835801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Poor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740846" y="4347865"/>
            <a:ext cx="2660903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795711" y="4347865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H₂ Purity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346886" y="4347865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401750" y="4347865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Moderate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58566" y="4347865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13430" y="4347865"/>
            <a:ext cx="20665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Very High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370246" y="4347865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425110" y="4347865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740846" y="4859929"/>
            <a:ext cx="3282007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795710" y="4859929"/>
            <a:ext cx="26060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Water Quality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346886" y="4859929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401750" y="4859929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Moderate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6358566" y="4859929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413430" y="4859929"/>
            <a:ext cx="20665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purity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370246" y="4859929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425110" y="4859929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purity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1740847" y="5371993"/>
            <a:ext cx="2844350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795710" y="5371993"/>
            <a:ext cx="26060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Capital Cost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4346886" y="5371993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4401750" y="5371993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358566" y="5371993"/>
            <a:ext cx="212140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413430" y="5371993"/>
            <a:ext cx="212140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Medium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8370246" y="5371993"/>
            <a:ext cx="2533479" cy="512064"/>
          </a:xfrm>
          <a:prstGeom prst="rect">
            <a:avLst/>
          </a:prstGeom>
          <a:solidFill>
            <a:srgbClr val="EDF3F6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8425110" y="5371993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740846" y="5884057"/>
            <a:ext cx="3282007" cy="512064"/>
          </a:xfrm>
          <a:prstGeom prst="rect">
            <a:avLst/>
          </a:prstGeom>
          <a:solidFill>
            <a:srgbClr val="E0ECF0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795710" y="5884057"/>
            <a:ext cx="260603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Offshore Suitability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346886" y="5884057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401750" y="5884057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Moderate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6358566" y="5884057"/>
            <a:ext cx="2176273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6413431" y="5884057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8370246" y="5884057"/>
            <a:ext cx="253347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8425110" y="5884057"/>
            <a:ext cx="23952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138035" y="6566291"/>
            <a:ext cx="4384136" cy="246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Sources: </a:t>
            </a: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(Aminaho et al.,2025; Carmo et al., 2013; Niblett et al., 2024)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FFCD914-7320-9C65-7A55-EEA95E003688}"/>
              </a:ext>
            </a:extLst>
          </p:cNvPr>
          <p:cNvSpPr txBox="1"/>
          <p:nvPr/>
        </p:nvSpPr>
        <p:spPr>
          <a:xfrm>
            <a:off x="4585196" y="461879"/>
            <a:ext cx="30185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1898C7B-1865-03C8-97E2-9D413B8A5BFE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F91C11-F4BC-F917-0C72-1E292DCE1217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70FBFE-33AF-C1AB-DD24-2201DB9099FD}"/>
              </a:ext>
            </a:extLst>
          </p:cNvPr>
          <p:cNvSpPr txBox="1"/>
          <p:nvPr/>
        </p:nvSpPr>
        <p:spPr>
          <a:xfrm rot="5400000">
            <a:off x="-443317" y="4095705"/>
            <a:ext cx="3869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Table 1: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of  electrolyser 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911611" y="6583680"/>
            <a:ext cx="43231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Sources: </a:t>
            </a: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(Ibrahim et al., 2022; Rezaei et al., 2024; Travaglini et al., 2025)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2CA893-C3E1-33F2-13F5-1B2DF73ABF7F}"/>
              </a:ext>
            </a:extLst>
          </p:cNvPr>
          <p:cNvSpPr txBox="1"/>
          <p:nvPr/>
        </p:nvSpPr>
        <p:spPr>
          <a:xfrm>
            <a:off x="3476101" y="457817"/>
            <a:ext cx="5806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Comparison of  offshore and onshore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77C47A-DDFB-03AD-4724-62E4B2FB135E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DFFD8F-9721-06FD-D6C0-534BDBEE8ACA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81503C68-868F-F0B6-A5E0-3527B301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54"/>
          <a:stretch>
            <a:fillRect/>
          </a:stretch>
        </p:blipFill>
        <p:spPr>
          <a:xfrm>
            <a:off x="6573351" y="2017943"/>
            <a:ext cx="5461278" cy="3033710"/>
          </a:xfrm>
          <a:prstGeom prst="rect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B5225783-A20E-E0D0-BF54-9FAB12CA79D0}"/>
              </a:ext>
            </a:extLst>
          </p:cNvPr>
          <p:cNvSpPr txBox="1"/>
          <p:nvPr/>
        </p:nvSpPr>
        <p:spPr>
          <a:xfrm>
            <a:off x="7094482" y="5190146"/>
            <a:ext cx="4599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1: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Comparing offshore and onshore hydrogen production. </a:t>
            </a:r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9A61A795-C9C4-AF6A-6216-02C57D1E9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90401"/>
              </p:ext>
            </p:extLst>
          </p:nvPr>
        </p:nvGraphicFramePr>
        <p:xfrm>
          <a:off x="126989" y="1212360"/>
          <a:ext cx="6252498" cy="471295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84166">
                  <a:extLst>
                    <a:ext uri="{9D8B030D-6E8A-4147-A177-3AD203B41FA5}">
                      <a16:colId xmlns:a16="http://schemas.microsoft.com/office/drawing/2014/main" val="4219410703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3683547828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3327330078"/>
                    </a:ext>
                  </a:extLst>
                </a:gridCol>
              </a:tblGrid>
              <a:tr h="6733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Offshore Production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Onshore Production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62211"/>
                  </a:ext>
                </a:extLst>
              </a:tr>
              <a:tr h="7249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offshore wind farms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land, grid-connected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038148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Elec. Transmission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(2–5% losses)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104880"/>
                  </a:ext>
                </a:extLst>
              </a:tr>
              <a:tr h="7249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(fewer cable losses)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38863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Maintenance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Difficult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93922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Installation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46476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 for UK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by grid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660143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217071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 Suitability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204418"/>
                  </a:ext>
                </a:extLst>
              </a:tr>
            </a:tbl>
          </a:graphicData>
        </a:graphic>
      </p:graphicFrame>
      <p:sp>
        <p:nvSpPr>
          <p:cNvPr id="148" name="TextBox 147">
            <a:extLst>
              <a:ext uri="{FF2B5EF4-FFF2-40B4-BE49-F238E27FC236}">
                <a16:creationId xmlns:a16="http://schemas.microsoft.com/office/drawing/2014/main" id="{390C6DB1-076F-BF75-A7FA-B5192193660B}"/>
              </a:ext>
            </a:extLst>
          </p:cNvPr>
          <p:cNvSpPr txBox="1"/>
          <p:nvPr/>
        </p:nvSpPr>
        <p:spPr>
          <a:xfrm>
            <a:off x="433267" y="6029688"/>
            <a:ext cx="5639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Table 2: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Key parameter comparison of offshore vs onshore hydrogen production.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8C3D6E-208A-F974-F644-EB2BBAFF7069}"/>
              </a:ext>
            </a:extLst>
          </p:cNvPr>
          <p:cNvSpPr txBox="1"/>
          <p:nvPr/>
        </p:nvSpPr>
        <p:spPr>
          <a:xfrm>
            <a:off x="4228946" y="414820"/>
            <a:ext cx="3731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Working Principle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E6FAA1A-A29F-11B3-D355-227D30288C77}"/>
              </a:ext>
            </a:extLst>
          </p:cNvPr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8E653-F458-CD0B-C871-F9D435798AED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46211C-B9F2-3A38-BC7F-803C1DD5E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8" t="19926" r="1598"/>
          <a:stretch>
            <a:fillRect/>
          </a:stretch>
        </p:blipFill>
        <p:spPr>
          <a:xfrm>
            <a:off x="823050" y="2627609"/>
            <a:ext cx="10601164" cy="3756813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7" name="Shape 6">
            <a:extLst>
              <a:ext uri="{FF2B5EF4-FFF2-40B4-BE49-F238E27FC236}">
                <a16:creationId xmlns:a16="http://schemas.microsoft.com/office/drawing/2014/main" id="{5F16CEB8-FF69-620D-1A84-6FC82DDE5F1C}"/>
              </a:ext>
            </a:extLst>
          </p:cNvPr>
          <p:cNvSpPr/>
          <p:nvPr/>
        </p:nvSpPr>
        <p:spPr>
          <a:xfrm>
            <a:off x="598932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0D2B45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D60A249-5A6A-464D-1814-65BB6D850CA8}"/>
              </a:ext>
            </a:extLst>
          </p:cNvPr>
          <p:cNvSpPr/>
          <p:nvPr/>
        </p:nvSpPr>
        <p:spPr>
          <a:xfrm>
            <a:off x="598932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Offshore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Wind Power Generation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AD5A33B2-FCAD-94D1-CF11-DA18269C16B3}"/>
              </a:ext>
            </a:extLst>
          </p:cNvPr>
          <p:cNvSpPr/>
          <p:nvPr/>
        </p:nvSpPr>
        <p:spPr>
          <a:xfrm>
            <a:off x="2354580" y="1901952"/>
            <a:ext cx="91440" cy="1280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DC548F3D-FDE5-619A-DB3B-D31316A3C143}"/>
              </a:ext>
            </a:extLst>
          </p:cNvPr>
          <p:cNvSpPr/>
          <p:nvPr/>
        </p:nvSpPr>
        <p:spPr>
          <a:xfrm>
            <a:off x="2446020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C2E7A1B-365C-9BE0-241F-5175A7BFAEF6}"/>
              </a:ext>
            </a:extLst>
          </p:cNvPr>
          <p:cNvSpPr/>
          <p:nvPr/>
        </p:nvSpPr>
        <p:spPr>
          <a:xfrm>
            <a:off x="2446020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Seawater Desalination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A53D0662-6D64-FFDC-88B6-07FE64B9505B}"/>
              </a:ext>
            </a:extLst>
          </p:cNvPr>
          <p:cNvSpPr/>
          <p:nvPr/>
        </p:nvSpPr>
        <p:spPr>
          <a:xfrm>
            <a:off x="4201668" y="1901952"/>
            <a:ext cx="91440" cy="1280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A0A74FB-EFB1-AC18-3511-C36F0C86C1BF}"/>
              </a:ext>
            </a:extLst>
          </p:cNvPr>
          <p:cNvSpPr/>
          <p:nvPr/>
        </p:nvSpPr>
        <p:spPr>
          <a:xfrm>
            <a:off x="4293108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1565A0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96D4B94-64BD-8548-A86B-26B38C63716D}"/>
              </a:ext>
            </a:extLst>
          </p:cNvPr>
          <p:cNvSpPr/>
          <p:nvPr/>
        </p:nvSpPr>
        <p:spPr>
          <a:xfrm>
            <a:off x="4293108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Electrolysis of water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292B44A9-B7EF-A463-CB47-88A0F09A6BC2}"/>
              </a:ext>
            </a:extLst>
          </p:cNvPr>
          <p:cNvSpPr/>
          <p:nvPr/>
        </p:nvSpPr>
        <p:spPr>
          <a:xfrm>
            <a:off x="6048756" y="1901952"/>
            <a:ext cx="91440" cy="1280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B7CF312-99E7-DBA1-4F1D-300281FFEE46}"/>
              </a:ext>
            </a:extLst>
          </p:cNvPr>
          <p:cNvSpPr/>
          <p:nvPr/>
        </p:nvSpPr>
        <p:spPr>
          <a:xfrm>
            <a:off x="6140196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E3FC1AF-BCD7-55D1-2CBB-7BD57D19303D}"/>
              </a:ext>
            </a:extLst>
          </p:cNvPr>
          <p:cNvSpPr/>
          <p:nvPr/>
        </p:nvSpPr>
        <p:spPr>
          <a:xfrm>
            <a:off x="6140196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Hydrogen Compression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3BCF820-5C9A-5B47-3B7D-7B893B6650F4}"/>
              </a:ext>
            </a:extLst>
          </p:cNvPr>
          <p:cNvSpPr/>
          <p:nvPr/>
        </p:nvSpPr>
        <p:spPr>
          <a:xfrm>
            <a:off x="7895844" y="1901952"/>
            <a:ext cx="91440" cy="1280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C2FC31A1-2213-EEA6-D735-9297ED8835C2}"/>
              </a:ext>
            </a:extLst>
          </p:cNvPr>
          <p:cNvSpPr/>
          <p:nvPr/>
        </p:nvSpPr>
        <p:spPr>
          <a:xfrm>
            <a:off x="7987284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0D2B45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01E7CCD6-D6AB-61C4-FACA-381642F2B6EE}"/>
              </a:ext>
            </a:extLst>
          </p:cNvPr>
          <p:cNvSpPr/>
          <p:nvPr/>
        </p:nvSpPr>
        <p:spPr>
          <a:xfrm>
            <a:off x="7987284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Hydrogen Storage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9FAB4467-D6BF-1B4C-FC85-28ADBBCAA4CF}"/>
              </a:ext>
            </a:extLst>
          </p:cNvPr>
          <p:cNvSpPr/>
          <p:nvPr/>
        </p:nvSpPr>
        <p:spPr>
          <a:xfrm>
            <a:off x="9742932" y="1901952"/>
            <a:ext cx="91440" cy="1280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174AA26A-21D2-7322-4034-4C1467A9E8B5}"/>
              </a:ext>
            </a:extLst>
          </p:cNvPr>
          <p:cNvSpPr/>
          <p:nvPr/>
        </p:nvSpPr>
        <p:spPr>
          <a:xfrm>
            <a:off x="9834372" y="1508760"/>
            <a:ext cx="1755648" cy="914400"/>
          </a:xfrm>
          <a:prstGeom prst="roundRect">
            <a:avLst>
              <a:gd name="adj" fmla="val 7000"/>
            </a:avLst>
          </a:prstGeom>
          <a:solidFill>
            <a:srgbClr val="1A4A2E"/>
          </a:solidFill>
          <a:ln/>
        </p:spPr>
        <p:txBody>
          <a:bodyPr/>
          <a:lstStyle/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0143F1C-E969-EF12-AB06-9494BB5BFD8C}"/>
              </a:ext>
            </a:extLst>
          </p:cNvPr>
          <p:cNvSpPr/>
          <p:nvPr/>
        </p:nvSpPr>
        <p:spPr>
          <a:xfrm>
            <a:off x="9834372" y="150876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Hydrogen Transportation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A3A562-AE38-C2A9-B400-D78AFAEB5E60}"/>
              </a:ext>
            </a:extLst>
          </p:cNvPr>
          <p:cNvSpPr txBox="1"/>
          <p:nvPr/>
        </p:nvSpPr>
        <p:spPr>
          <a:xfrm>
            <a:off x="2539514" y="6535513"/>
            <a:ext cx="71099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2:</a:t>
            </a: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Working Principle of Offshore Green Hydrogen Production via Wind Powered Electrolysis.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319119-B78F-C641-C9C7-97D5C861C818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1B66DB-7951-CA81-0068-AAD0B97D9254}"/>
              </a:ext>
            </a:extLst>
          </p:cNvPr>
          <p:cNvSpPr txBox="1"/>
          <p:nvPr/>
        </p:nvSpPr>
        <p:spPr>
          <a:xfrm>
            <a:off x="598932" y="1100066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Chart of the whole working principle: </a:t>
            </a:r>
          </a:p>
        </p:txBody>
      </p:sp>
    </p:spTree>
    <p:extLst>
      <p:ext uri="{BB962C8B-B14F-4D97-AF65-F5344CB8AC3E}">
        <p14:creationId xmlns:p14="http://schemas.microsoft.com/office/powerpoint/2010/main" val="325094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640" y="241981"/>
            <a:ext cx="416052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84891" y="42294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1600" y="1068832"/>
            <a:ext cx="11994604" cy="5542947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1527" y="1719721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D0EBEB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1528" y="1719721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1528" y="1719721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2423" y="1843966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Literature Review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2008" y="2304937"/>
            <a:ext cx="131826" cy="14630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81424" y="2442097"/>
            <a:ext cx="421844" cy="128016"/>
          </a:xfrm>
          <a:prstGeom prst="triangle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1527" y="2524393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1528" y="2524393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1528" y="2524393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0711" y="2688985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Selection of  electrolyser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2008" y="3109609"/>
            <a:ext cx="131826" cy="14630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81424" y="3246769"/>
            <a:ext cx="421844" cy="128016"/>
          </a:xfrm>
          <a:prstGeom prst="triangle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1527" y="3329065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D0EBEB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1528" y="3329065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1528" y="3329065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2423" y="3507261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System Design &amp; Boundary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82008" y="3914281"/>
            <a:ext cx="131826" cy="14630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81424" y="4051441"/>
            <a:ext cx="421844" cy="128016"/>
          </a:xfrm>
          <a:prstGeom prst="triangle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1527" y="4133737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0D2B45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528" y="4133737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1528" y="4133737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2423" y="4252609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Aspen HYSYS Simulation carried out mass and energy balance calculations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82008" y="4718953"/>
            <a:ext cx="131826" cy="14630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281424" y="4856113"/>
            <a:ext cx="421844" cy="128016"/>
          </a:xfrm>
          <a:prstGeom prst="triangle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1527" y="4938409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D0EBEB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1528" y="4938409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1528" y="4938409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97559" y="5102352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Techno Economic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382008" y="5523625"/>
            <a:ext cx="131826" cy="14630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281424" y="5660785"/>
            <a:ext cx="421844" cy="128016"/>
          </a:xfrm>
          <a:prstGeom prst="triangle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1527" y="5743081"/>
            <a:ext cx="11205243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A7A7A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41528" y="5743081"/>
            <a:ext cx="369114" cy="585216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1528" y="5743081"/>
            <a:ext cx="36911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0739" y="5907024"/>
            <a:ext cx="1067793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Results and  Discussion, Conclusions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A857C0C4-B182-2527-A8F0-F19C086F686F}"/>
              </a:ext>
            </a:extLst>
          </p:cNvPr>
          <p:cNvSpPr/>
          <p:nvPr/>
        </p:nvSpPr>
        <p:spPr>
          <a:xfrm>
            <a:off x="349504" y="1247821"/>
            <a:ext cx="4032504" cy="252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ctr"/>
          <a:lstStyle/>
          <a:p>
            <a:pPr marL="285750" indent="-285750" algn="ctr">
              <a:buFont typeface="Wingdings" pitchFamily="2" charset="2"/>
              <a:buChar char="v"/>
            </a:pPr>
            <a:r>
              <a:rPr lang="en-US" sz="1600" b="1" u="sng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Research approach and workflow:</a:t>
            </a:r>
            <a:endParaRPr lang="en-US" sz="1600" b="1" u="sng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B638AC-0ED8-4F79-386D-22BA187D40F0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45DC62-9E14-2E5C-7387-29D417D5C7B7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3A165-263C-FF51-EF58-AC18A38B54DF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00347" y="412812"/>
            <a:ext cx="449420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Results Analysis Framework</a:t>
            </a:r>
            <a:endParaRPr lang="en-US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" y="1099154"/>
            <a:ext cx="12188952" cy="5797296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89504"/>
            <a:ext cx="54406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397947"/>
            <a:ext cx="5440680" cy="42062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397947"/>
            <a:ext cx="5166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Mass and Energy Balance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4392" y="5300846"/>
            <a:ext cx="3429280" cy="1209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u="sng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Simulation: 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Aspen HYSYS stoichiometric reactor model.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Reaction: </a:t>
            </a:r>
            <a:r>
              <a:rPr lang="en-US" sz="1400" dirty="0">
                <a:solidFill>
                  <a:srgbClr val="1A7A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2H₂O → 2H₂ + O₂ 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4476" y="1873435"/>
            <a:ext cx="57607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4475" y="1397947"/>
            <a:ext cx="5760720" cy="420624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09360" y="1397947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Techno Economic Analysis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72199" y="4283421"/>
            <a:ext cx="5760719" cy="22899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240">
            <a:solidFill>
              <a:srgbClr val="0D2B45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26541" y="4356572"/>
            <a:ext cx="2096589" cy="256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 Analysis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63640" y="4612604"/>
            <a:ext cx="5257800" cy="1878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Wind variability.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Electricity cost.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Electrolyser  performance. 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Storage pressure (350 bar).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H₂ production rate.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395D6194-42A5-365E-FCAF-A390E585C919}"/>
              </a:ext>
            </a:extLst>
          </p:cNvPr>
          <p:cNvSpPr/>
          <p:nvPr/>
        </p:nvSpPr>
        <p:spPr>
          <a:xfrm>
            <a:off x="352044" y="1013899"/>
            <a:ext cx="48398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Wingdings" pitchFamily="2" charset="2"/>
              <a:buChar char="v"/>
            </a:pPr>
            <a:r>
              <a:rPr lang="en-US" sz="1200" b="1" dirty="0">
                <a:solidFill>
                  <a:srgbClr val="008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Mass &amp; Energy Balance and Techno Economic Analysis:</a:t>
            </a:r>
            <a:endParaRPr lang="en-US" sz="1200" b="1" dirty="0">
              <a:solidFill>
                <a:srgbClr val="008AF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87D7A1-D933-DC1E-0A30-17CF69F77E90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0227C4-32A1-1830-FA78-0F4AF2C5E71F}"/>
              </a:ext>
            </a:extLst>
          </p:cNvPr>
          <p:cNvSpPr txBox="1"/>
          <p:nvPr/>
        </p:nvSpPr>
        <p:spPr>
          <a:xfrm>
            <a:off x="11897595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CA998-9D56-3498-7291-7459310FF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8299"/>
            <a:ext cx="1634287" cy="18028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9A30087-869D-5906-DCC0-F617ECFA2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218" y="1943329"/>
            <a:ext cx="1657053" cy="17878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8BD5A3F-CEA1-CDCC-219D-98D5C8287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853" y="1928299"/>
            <a:ext cx="1692345" cy="17878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B7A1157-B29B-E52B-BF51-5DA17D22F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928299"/>
            <a:ext cx="1374895" cy="1374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EE86844-6CE8-1E4B-8D46-792A4105C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122" y="1928299"/>
            <a:ext cx="1525960" cy="1374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78E7E3C-616A-9C45-BD4E-378B6038A1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0550" y="1928299"/>
            <a:ext cx="1444722" cy="13748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F75ECF3-087B-3025-C496-90EAB198D6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06" y="3506110"/>
            <a:ext cx="1374894" cy="14148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8371629-7ED7-5FB6-2F1C-70CFC97E86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1487" y="3492470"/>
            <a:ext cx="1525960" cy="14338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4852A3B-1D96-F5B7-C687-92CE6C7BD0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0550" y="3506112"/>
            <a:ext cx="1516686" cy="14148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3" name="Right Arrow 62">
            <a:extLst>
              <a:ext uri="{FF2B5EF4-FFF2-40B4-BE49-F238E27FC236}">
                <a16:creationId xmlns:a16="http://schemas.microsoft.com/office/drawing/2014/main" id="{4568AC95-6008-8F21-05A2-C4EB2D186C10}"/>
              </a:ext>
            </a:extLst>
          </p:cNvPr>
          <p:cNvSpPr/>
          <p:nvPr/>
        </p:nvSpPr>
        <p:spPr>
          <a:xfrm>
            <a:off x="1941327" y="2512771"/>
            <a:ext cx="246951" cy="11875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4233944B-00D8-5132-0A5B-351FE57A479C}"/>
              </a:ext>
            </a:extLst>
          </p:cNvPr>
          <p:cNvSpPr/>
          <p:nvPr/>
        </p:nvSpPr>
        <p:spPr>
          <a:xfrm>
            <a:off x="3822569" y="2512770"/>
            <a:ext cx="246951" cy="11875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573EAD86-BB94-7358-1627-42B022654EB1}"/>
              </a:ext>
            </a:extLst>
          </p:cNvPr>
          <p:cNvSpPr/>
          <p:nvPr/>
        </p:nvSpPr>
        <p:spPr>
          <a:xfrm>
            <a:off x="1941327" y="4081888"/>
            <a:ext cx="246951" cy="11875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4909C02D-2AE5-1BC5-B84E-97D2EA626F06}"/>
              </a:ext>
            </a:extLst>
          </p:cNvPr>
          <p:cNvSpPr/>
          <p:nvPr/>
        </p:nvSpPr>
        <p:spPr>
          <a:xfrm>
            <a:off x="3815523" y="4081889"/>
            <a:ext cx="246951" cy="11875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C8AF36-8976-835B-40FE-6D02AD6712CC}"/>
              </a:ext>
            </a:extLst>
          </p:cNvPr>
          <p:cNvSpPr txBox="1"/>
          <p:nvPr/>
        </p:nvSpPr>
        <p:spPr>
          <a:xfrm>
            <a:off x="12329327" y="6832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9F46CFC2-FC3B-A5D9-EF13-00ECCD375E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0550" y="5239425"/>
            <a:ext cx="1528410" cy="14148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1" name="Right Arrow 70">
            <a:extLst>
              <a:ext uri="{FF2B5EF4-FFF2-40B4-BE49-F238E27FC236}">
                <a16:creationId xmlns:a16="http://schemas.microsoft.com/office/drawing/2014/main" id="{24C65332-973E-21FE-CA9A-C9F4EF8855FF}"/>
              </a:ext>
            </a:extLst>
          </p:cNvPr>
          <p:cNvSpPr/>
          <p:nvPr/>
        </p:nvSpPr>
        <p:spPr>
          <a:xfrm rot="5400000">
            <a:off x="4784794" y="5027512"/>
            <a:ext cx="246951" cy="11875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7E747-3519-F971-9D4D-7DE30408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97" r="484"/>
          <a:stretch>
            <a:fillRect/>
          </a:stretch>
        </p:blipFill>
        <p:spPr>
          <a:xfrm>
            <a:off x="290420" y="1145391"/>
            <a:ext cx="11608112" cy="5538312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13E69C7A-3B82-EEA9-867F-3E5D4CB44F6B}"/>
              </a:ext>
            </a:extLst>
          </p:cNvPr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032EC-35C1-44C5-9AE3-84A041726CA1}"/>
              </a:ext>
            </a:extLst>
          </p:cNvPr>
          <p:cNvSpPr txBox="1"/>
          <p:nvPr/>
        </p:nvSpPr>
        <p:spPr>
          <a:xfrm>
            <a:off x="3979607" y="459488"/>
            <a:ext cx="473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sng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Timeline &amp; Deliverables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A1299-E2A5-9E9E-9421-30563643D3F1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277D8-6530-EFFC-6C9B-69C0F9C94382}"/>
              </a:ext>
            </a:extLst>
          </p:cNvPr>
          <p:cNvSpPr txBox="1"/>
          <p:nvPr/>
        </p:nvSpPr>
        <p:spPr>
          <a:xfrm>
            <a:off x="11841006" y="661177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95639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8D717-8DB6-EFDC-15D7-213B8FAB0100}"/>
              </a:ext>
            </a:extLst>
          </p:cNvPr>
          <p:cNvSpPr txBox="1"/>
          <p:nvPr/>
        </p:nvSpPr>
        <p:spPr>
          <a:xfrm>
            <a:off x="4890070" y="414820"/>
            <a:ext cx="1949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377819-43EA-7D82-D295-40542D549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3541"/>
            <a:ext cx="12192000" cy="5546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Aminaho, E.N., Aminaho, N.S. and Aminaho, F. (2025)</a:t>
            </a:r>
            <a:r>
              <a:rPr lang="en-GB" sz="1600" dirty="0"/>
              <a:t> ‘Techno-economic assessments of electrolysers for hydrogen production’ [Online]. Available at: </a:t>
            </a:r>
            <a:r>
              <a:rPr lang="en-GB" sz="1600" u="sng" dirty="0">
                <a:hlinkClick r:id="rId3"/>
              </a:rPr>
              <a:t>https://www.sciencedirect.com/science/article/pii/S0306261925012450</a:t>
            </a:r>
            <a:r>
              <a:rPr lang="en-GB" sz="1600" u="sng" dirty="0"/>
              <a:t> </a:t>
            </a:r>
            <a:r>
              <a:rPr lang="en-GB" sz="1600" dirty="0"/>
              <a:t>(Accessed: 25 March 2026).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Carmo, M., Fritz, D.L., Mergel, J. and Stolten, D. (2013) </a:t>
            </a:r>
            <a:r>
              <a:rPr lang="en-GB" sz="1600" dirty="0"/>
              <a:t>‘A comprehensive review on PEM water electrolysis’, International Journal of Hydrogen Energy [Online]. Available at: </a:t>
            </a:r>
            <a:r>
              <a:rPr lang="en-GB" sz="1600" u="sng" dirty="0">
                <a:hlinkClick r:id="rId4"/>
              </a:rPr>
              <a:t>https://doi.org/10.1016/j.ijhydene.2013.01.151</a:t>
            </a:r>
            <a:r>
              <a:rPr lang="en-GB" sz="1600" u="sng" dirty="0"/>
              <a:t> </a:t>
            </a:r>
            <a:r>
              <a:rPr lang="en-GB" sz="1600" dirty="0"/>
              <a:t>(Accessed: 26 March 2026).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Ibrahim, O.S. et al. (2022)</a:t>
            </a:r>
            <a:r>
              <a:rPr lang="en-GB" sz="1600" dirty="0"/>
              <a:t> Dedicated large-scale floating offshore wind to hydrogen: Techno-economic and environmental assessment. Renewable and Sustainable Energy Reviews. Available at: </a:t>
            </a:r>
            <a:r>
              <a:rPr lang="en-GB" sz="1600" dirty="0">
                <a:hlinkClick r:id="rId5"/>
              </a:rPr>
              <a:t>https://www.sciencedirect.com/science/article/pii/S1364032122002258</a:t>
            </a:r>
            <a:r>
              <a:rPr lang="en-GB" sz="1600" dirty="0"/>
              <a:t> (Accessed: 18 March 2026).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Niblett, D., Chiong, M.-C. and Zhang, Z. (2024) </a:t>
            </a:r>
            <a:r>
              <a:rPr lang="en-GB" sz="1600" dirty="0"/>
              <a:t>‘Review of next generation hydrogen production from offshore wind using water electrolysis’ [Online]. Available at: </a:t>
            </a:r>
            <a:r>
              <a:rPr lang="en-GB" sz="1600" dirty="0">
                <a:hlinkClick r:id="rId6"/>
              </a:rPr>
              <a:t>https://www.sciencedirect.com/science/article/pii/S0378775323012806</a:t>
            </a:r>
            <a:r>
              <a:rPr lang="en-GB" sz="1600" dirty="0"/>
              <a:t> (Accessed: 18 March 2026).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Ramakrishnan, S., Kolios, A., Cui, L. and Floros, M. (2024) </a:t>
            </a:r>
            <a:r>
              <a:rPr lang="en-GB" sz="1600" dirty="0"/>
              <a:t>‘Offshore green hydrogen production from wind energy: Critical review and perspective’ [Online]. Available at: </a:t>
            </a:r>
            <a:r>
              <a:rPr lang="en-GB" sz="1600" dirty="0">
                <a:hlinkClick r:id="rId7"/>
              </a:rPr>
              <a:t>https://www.sciencedirect.com/science/article/pii/S1364032124000431</a:t>
            </a:r>
            <a:r>
              <a:rPr lang="en-GB" sz="1600" dirty="0"/>
              <a:t> (Accessed: 01 April 2026). </a:t>
            </a:r>
          </a:p>
          <a:p>
            <a:pPr lvl="0">
              <a:lnSpc>
                <a:spcPct val="150000"/>
              </a:lnSpc>
            </a:pPr>
            <a:endParaRPr lang="en-GB" sz="1600" dirty="0"/>
          </a:p>
          <a:p>
            <a:pPr lvl="0" algn="just">
              <a:lnSpc>
                <a:spcPct val="150000"/>
              </a:lnSpc>
            </a:pPr>
            <a:endParaRPr lang="en-GB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ADA5EE9-4C08-23DF-12D0-068E0DE72DBC}"/>
              </a:ext>
            </a:extLst>
          </p:cNvPr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0C0D7-3B2D-DB70-ADC7-D75909859737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7F06D-E5F6-DB77-65D9-35AAB0EF184B}"/>
              </a:ext>
            </a:extLst>
          </p:cNvPr>
          <p:cNvSpPr txBox="1"/>
          <p:nvPr/>
        </p:nvSpPr>
        <p:spPr>
          <a:xfrm>
            <a:off x="11841006" y="66117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6D887D-1976-686A-593F-31F81FEB1967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  <p:extLst>
      <p:ext uri="{BB962C8B-B14F-4D97-AF65-F5344CB8AC3E}">
        <p14:creationId xmlns:p14="http://schemas.microsoft.com/office/powerpoint/2010/main" val="170900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406C038-D27A-8B40-8A01-FEB755125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62" y="1376624"/>
            <a:ext cx="11819827" cy="3001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Travaglini, R. et al. (2025)</a:t>
            </a:r>
            <a:r>
              <a:rPr lang="en-GB" sz="1600" dirty="0"/>
              <a:t> Offshore or onshore hydrogen production? A critical comparison of wind-to-hydrogen pathways. Applied Energy. Available at: </a:t>
            </a:r>
            <a:r>
              <a:rPr lang="en-GB" sz="1600" dirty="0">
                <a:hlinkClick r:id="rId3"/>
              </a:rPr>
              <a:t>https://www.sciencedirect.com</a:t>
            </a:r>
            <a:r>
              <a:rPr lang="en-GB" sz="1600" dirty="0"/>
              <a:t> (Accessed: 01 April 2026). 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Wu, L., Xu, Y., Wang, Q., Zou, X., Pan, Z., Leung, M.K.H. and An, L. (2025) </a:t>
            </a:r>
            <a:r>
              <a:rPr lang="en-GB" sz="1600" dirty="0"/>
              <a:t>‘Direct seawater electrolysis for green hydrogen production: electrode designs, cell configurations, and system integrations’ [Online]. Available at: </a:t>
            </a:r>
            <a:r>
              <a:rPr lang="en-GB" sz="1600" dirty="0">
                <a:hlinkClick r:id="rId4"/>
              </a:rPr>
              <a:t>https://pubs.rsc.org/en/content/articlelanding/2025/ee/d5ee01093d</a:t>
            </a:r>
            <a:r>
              <a:rPr lang="en-GB" sz="1600" dirty="0"/>
              <a:t> (Accessed: 18 March 2026).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/>
              <a:t>Rezaei, M. et al. (2024) </a:t>
            </a:r>
            <a:r>
              <a:rPr lang="en-GB" sz="1600" dirty="0"/>
              <a:t>Techno-economics of offshore wind-based dynamic hydrogen production. Applied Energy. Available at: </a:t>
            </a:r>
            <a:r>
              <a:rPr lang="en-GB" sz="1600" dirty="0">
                <a:hlinkClick r:id="rId5"/>
              </a:rPr>
              <a:t>https://www.sciencedirect.com/science/article/pii/S0306261924014132</a:t>
            </a:r>
            <a:r>
              <a:rPr lang="en-GB" sz="1600" dirty="0"/>
              <a:t> (Accessed: 25 April 2026). </a:t>
            </a:r>
          </a:p>
          <a:p>
            <a:pPr marL="285750" lvl="0" indent="-285750" algn="just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014033-274A-322D-9B2D-34A9FAC798B5}"/>
              </a:ext>
            </a:extLst>
          </p:cNvPr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1A7A7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78933-BCD7-0141-4DB2-59EBD8C7CA0F}"/>
              </a:ext>
            </a:extLst>
          </p:cNvPr>
          <p:cNvSpPr txBox="1"/>
          <p:nvPr/>
        </p:nvSpPr>
        <p:spPr>
          <a:xfrm>
            <a:off x="-58872" y="45488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B0B50-CC3A-61A8-EBDB-EAEEF2693A5F}"/>
              </a:ext>
            </a:extLst>
          </p:cNvPr>
          <p:cNvSpPr txBox="1"/>
          <p:nvPr/>
        </p:nvSpPr>
        <p:spPr>
          <a:xfrm>
            <a:off x="11841006" y="66117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7995B3-BD03-6AB1-23D7-07D56783B054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  <p:extLst>
      <p:ext uri="{BB962C8B-B14F-4D97-AF65-F5344CB8AC3E}">
        <p14:creationId xmlns:p14="http://schemas.microsoft.com/office/powerpoint/2010/main" val="193054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7B26AB-41D6-9ACD-7DAB-96F58F1CC493}"/>
              </a:ext>
            </a:extLst>
          </p:cNvPr>
          <p:cNvSpPr txBox="1"/>
          <p:nvPr/>
        </p:nvSpPr>
        <p:spPr>
          <a:xfrm rot="21154704">
            <a:off x="2733610" y="1207006"/>
            <a:ext cx="919276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rgbClr val="FF0000"/>
                </a:solidFill>
                <a:latin typeface="Segoe Script" panose="020B0804020000000003" pitchFamily="34" charset="0"/>
                <a:cs typeface="Arial" panose="020B0604020202020204" pitchFamily="34" charset="0"/>
              </a:rPr>
              <a:t>Thank you 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61445-0845-E8DA-87D7-040E28E339F1}"/>
              </a:ext>
            </a:extLst>
          </p:cNvPr>
          <p:cNvSpPr txBox="1"/>
          <p:nvPr/>
        </p:nvSpPr>
        <p:spPr>
          <a:xfrm>
            <a:off x="3414397" y="262435"/>
            <a:ext cx="50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Course: </a:t>
            </a:r>
            <a:r>
              <a:rPr lang="en-GB" dirty="0">
                <a:solidFill>
                  <a:schemeClr val="bg1"/>
                </a:solidFill>
                <a:highlight>
                  <a:srgbClr val="008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Research Dissertation (ENGM083)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CE6AE-06DE-7772-D700-29D640519475}"/>
              </a:ext>
            </a:extLst>
          </p:cNvPr>
          <p:cNvSpPr txBox="1"/>
          <p:nvPr/>
        </p:nvSpPr>
        <p:spPr>
          <a:xfrm>
            <a:off x="11841006" y="66117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C5C39-C415-6876-6EF6-20F0FCF6DA9E}"/>
              </a:ext>
            </a:extLst>
          </p:cNvPr>
          <p:cNvSpPr txBox="1"/>
          <p:nvPr/>
        </p:nvSpPr>
        <p:spPr>
          <a:xfrm>
            <a:off x="3958964" y="6551132"/>
            <a:ext cx="3990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Syed Yousaf Munib | 6933767 | sm04531@surrey.ac.uk</a:t>
            </a:r>
          </a:p>
        </p:txBody>
      </p:sp>
    </p:spTree>
    <p:extLst>
      <p:ext uri="{BB962C8B-B14F-4D97-AF65-F5344CB8AC3E}">
        <p14:creationId xmlns:p14="http://schemas.microsoft.com/office/powerpoint/2010/main" val="3661808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3932</TotalTime>
  <Words>1361</Words>
  <Application>Microsoft Macintosh PowerPoint</Application>
  <PresentationFormat>Widescreen</PresentationFormat>
  <Paragraphs>215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Segoe Script</vt:lpstr>
      <vt:lpstr>Wingdings</vt:lpstr>
      <vt:lpstr>Office 2013 - 2022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Munib, Syed Yousaf (PG/T - Chemistry &amp; Chem Eng)</dc:creator>
  <cp:lastModifiedBy>Munib, Syed Yousaf (PG/T - Chemistry &amp; Chem Eng)</cp:lastModifiedBy>
  <cp:revision>94</cp:revision>
  <dcterms:created xsi:type="dcterms:W3CDTF">2025-11-12T13:06:41Z</dcterms:created>
  <dcterms:modified xsi:type="dcterms:W3CDTF">2026-05-07T11:55:54Z</dcterms:modified>
</cp:coreProperties>
</file>